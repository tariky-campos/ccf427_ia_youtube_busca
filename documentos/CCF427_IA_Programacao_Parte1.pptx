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3b28d66f134642" /><Relationship Type="http://schemas.openxmlformats.org/officeDocument/2006/relationships/extended-properties" Target="/docProps/app.xml" Id="Rf3fc510f020949bb" /><Relationship Type="http://schemas.openxmlformats.org/officeDocument/2006/relationships/officeDocument" Target="/ppt/presentation.xml" Id="Rf00afac10cbc4b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810da05e564090"/>
  </p:sldMasterIdLst>
  <p:notesMasterIdLst>
    <p:notesMasterId xmlns:r="http://schemas.openxmlformats.org/officeDocument/2006/relationships" r:id="Re171bd8db4754155"/>
  </p:notesMasterIdLst>
  <p:sldIdLst>
    <p:sldId xmlns:r="http://schemas.openxmlformats.org/officeDocument/2006/relationships" id="256" r:id="R980fcf9a25b1492f"/>
    <p:sldId xmlns:r="http://schemas.openxmlformats.org/officeDocument/2006/relationships" id="257" r:id="Rde09d0be6d9e40ac"/>
    <p:sldId xmlns:r="http://schemas.openxmlformats.org/officeDocument/2006/relationships" id="258" r:id="R720b3620ea504a31"/>
    <p:sldId xmlns:r="http://schemas.openxmlformats.org/officeDocument/2006/relationships" id="259" r:id="Rc0fc8aafd1a04a6b"/>
    <p:sldId xmlns:r="http://schemas.openxmlformats.org/officeDocument/2006/relationships" id="260" r:id="R587f6f637a794c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1f4c8f98cd4990" /><Relationship Type="http://schemas.openxmlformats.org/officeDocument/2006/relationships/slideMaster" Target="/ppt/slideMasters/slideMaster1.xml" Id="R59810da05e564090" /><Relationship Type="http://schemas.openxmlformats.org/officeDocument/2006/relationships/notesMaster" Target="/ppt/notesMasters/notesMaster1.xml" Id="Re171bd8db4754155" /><Relationship Type="http://schemas.openxmlformats.org/officeDocument/2006/relationships/presProps" Target="/ppt/presProps.xml" Id="R237ccafee4214514" /><Relationship Type="http://schemas.openxmlformats.org/officeDocument/2006/relationships/tableStyles" Target="/ppt/tableStyles.xml" Id="R262407f1f1524014" /><Relationship Type="http://schemas.openxmlformats.org/officeDocument/2006/relationships/slide" Target="/ppt/slides/slide1.xml" Id="R980fcf9a25b1492f" /><Relationship Type="http://schemas.openxmlformats.org/officeDocument/2006/relationships/slide" Target="/ppt/slides/slide2.xml" Id="Rde09d0be6d9e40ac" /><Relationship Type="http://schemas.openxmlformats.org/officeDocument/2006/relationships/slide" Target="/ppt/slides/slide3.xml" Id="R720b3620ea504a31" /><Relationship Type="http://schemas.openxmlformats.org/officeDocument/2006/relationships/slide" Target="/ppt/slides/slide4.xml" Id="Rc0fc8aafd1a04a6b" /><Relationship Type="http://schemas.openxmlformats.org/officeDocument/2006/relationships/slide" Target="/ppt/slides/slide5.xml" Id="R587f6f637a794c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0634fc3ca543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0e8f93e2364a8f" /><Relationship Type="http://schemas.openxmlformats.org/officeDocument/2006/relationships/notesMaster" Target="/ppt/notesMasters/notesMaster1.xml" Id="R262512a53ef741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76e3c31aff4b25" /><Relationship Type="http://schemas.openxmlformats.org/officeDocument/2006/relationships/notesMaster" Target="/ppt/notesMasters/notesMaster1.xml" Id="R996c4fc674d94e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d3300b958249fa" /><Relationship Type="http://schemas.openxmlformats.org/officeDocument/2006/relationships/notesMaster" Target="/ppt/notesMasters/notesMaster1.xml" Id="R5a2c9b8d20aa46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c009dcea7d483a" /><Relationship Type="http://schemas.openxmlformats.org/officeDocument/2006/relationships/notesMaster" Target="/ppt/notesMasters/notesMaster1.xml" Id="R71843942b45d4d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21e3a8c72f4a20" /><Relationship Type="http://schemas.openxmlformats.org/officeDocument/2006/relationships/notesMaster" Target="/ppt/notesMasters/notesMaster1.xml" Id="R0400338652b94a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Olá! Meu projeto da disciplina CCF427 busca entender como o público comenta o uso de inteligência artificial na programação.</a:t>
            </a:r>
          </a:p>
          <a:p xmlns:a="http://schemas.openxmlformats.org/drawingml/2006/main">
            <a:r>
              <a:t>Minha pergunta inicial é: nos comentários de vídeos do YouTube, quais percepções aparecem sobre oportunidades, produtividade, aprendizado e a possível substituição de programadores pela IA?</a:t>
            </a:r>
          </a:p>
          <a:p xmlns:a="http://schemas.openxmlformats.org/drawingml/2006/main">
            <a:r>
              <a:t>Hoje vou apresentar a primeira etapa: como consegui dados reais e como organizei o material para a análise posterior.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Eu desenvolvi um script em Python para consultar a YouTube Data API v3, seguindo três buscas relacionadas ao tema.</a:t>
            </a:r>
          </a:p>
          <a:p xmlns:a="http://schemas.openxmlformats.org/drawingml/2006/main">
            <a:r>
              <a:t>Para montar uma amostra inicial equilibrada, defini até quatro vídeos por grupo: substituição de programadores, produtividade e aprendizado com IA. Os vídeos deveriam ser de 2024 em diante; também usei filtros mínimos de duração e número de comentários.</a:t>
            </a:r>
          </a:p>
          <a:p xmlns:a="http://schemas.openxmlformats.org/drawingml/2006/main">
            <a:r>
              <a:t>Depois, coletei até cem comentários principais por vídeo, em ordem de mais recentes. As respostas aos comentários não entraram nesta base.</a:t>
            </a:r>
          </a:p>
          <a:p xmlns:a="http://schemas.openxmlformats.org/drawingml/2006/main">
            <a:r>
              <a:t>Fonte dos critérios: dados_brutos/resumo_coleta.json. Referência técnica: https://developers.google.com/youtube/v3/docs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script retornou, de verdade, 12 vídeos e 951 comentários principais. Não encontrei IDs de comentários duplicados.</a:t>
            </a:r>
          </a:p>
          <a:p xmlns:a="http://schemas.openxmlformats.org/drawingml/2006/main">
            <a:r>
              <a:t>Por grupo de busca foram 326 comentários em vídeos encontrados por termos de substituição, 352 em produtividade e 273 em aprendizado.</a:t>
            </a:r>
          </a:p>
          <a:p xmlns:a="http://schemas.openxmlformats.org/drawingml/2006/main">
            <a:r>
              <a:t>É importante esclarecer que essas três categorias são rótulos de busca. Elas não querem dizer que 326 pessoas tenham medo da substituição, nem são a classificação de sentimento dos comentários.</a:t>
            </a:r>
          </a:p>
          <a:p xmlns:a="http://schemas.openxmlformats.org/drawingml/2006/main">
            <a:r>
              <a:t>Fonte: dados_brutos/resumo_coleta.json e planilha de comentários reais coletada em 25 de outubro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Quando conferi os títulos dos vídeos encontrados, percebi um problema de qualidade: algumas buscas recuperaram vídeos genéricos sobre ChatGPT ou assuntos sem relação com programação.</a:t>
            </a:r>
          </a:p>
          <a:p xmlns:a="http://schemas.openxmlformats.org/drawingml/2006/main">
            <a:r>
              <a:t>Por isso mantive os 12 vídeos e 951 comentários originais em uma pasta de dados brutos, mas criei um segundo CSV mais focado: cinco vídeos com títulos explicitamente pertinentes à programação, totalizando 426 comentários.</a:t>
            </a:r>
          </a:p>
          <a:p xmlns:a="http://schemas.openxmlformats.org/drawingml/2006/main">
            <a:r>
              <a:t>Essa é uma seleção por pertinência do título depois da coleta, portanto deve ser descrita como uma limitação metodológica e não como uma amostra representativa de todos os desenvolvedores.</a:t>
            </a:r>
          </a:p>
          <a:p xmlns:a="http://schemas.openxmlformats.org/drawingml/2006/main">
            <a:r>
              <a:t>Fonte: dados_foco/resumo_triagem.json, com a lista dos 12 vídeos e a justificativa de inclusão ou exclusão.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primeira etapa já está documentada: tenho a questão de pesquisa, o código Python que fez a coleta, os CSVs e o registro das decisões de amostragem e triagem.</a:t>
            </a:r>
          </a:p>
          <a:p xmlns:a="http://schemas.openxmlformats.org/drawingml/2006/main">
            <a:r>
              <a:t>Na continuação, pretendo descrever a distribuição dos comentários e suas métricas, analisar opiniões sobre inteligência artificial na programação e validar manualmente qualquer classificação de sentimento.</a:t>
            </a:r>
          </a:p>
          <a:p xmlns:a="http://schemas.openxmlformats.org/drawingml/2006/main">
            <a:r>
              <a:t>Por fim, o artigo deve discutir as limitações: comentários do YouTube não representam toda a comunidade de programadores, e a pesquisa por palavras-chave afeta quais vídeos entram na amostra.</a:t>
            </a:r>
          </a:p>
          <a:p xmlns:a="http://schemas.openxmlformats.org/drawingml/2006/main">
            <a:r>
              <a:t>Encerramento: é um estudo exploratório de comentários públicos, com método documentado e dados verificáveis.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463f6ec86445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4e1d58e7fb411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000a0d98e647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270e82bb6d433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373acec99643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56ca81636648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EE89F7-BBC1-495F-B4CD-D40BFDB060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2692EDB-12E7-4CDD-BC46-71D3B8ADE4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1E19473-C17D-4874-BF8D-1EE7F321AA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DBB1D7-74CB-48D8-85B7-BBF28060E6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567DA5E-2941-4268-B3B1-0099125D2B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CC9E36-DA12-4803-B0F5-6A04021C56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0521F8-37EE-433E-BBD6-B3713A9EA7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34BF011-A366-4F2E-9AE9-688F788D80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EAA04C-0BA7-418D-B6F9-2644CF5863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220DE9-3F6A-4837-9CCA-1ECEA6610E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e178d282f940c7" /><Relationship Type="http://schemas.openxmlformats.org/officeDocument/2006/relationships/slideLayout" Target="/ppt/slideLayouts/slideLayout1.xml" Id="Reed5fade31de4696" /><Relationship Type="http://schemas.openxmlformats.org/officeDocument/2006/relationships/slideLayout" Target="/ppt/slideLayouts/slideLayout2.xml" Id="R4125de944e364aed" /><Relationship Type="http://schemas.openxmlformats.org/officeDocument/2006/relationships/slideLayout" Target="/ppt/slideLayouts/slideLayout3.xml" Id="R2a5fdbcfe871449a" /><Relationship Type="http://schemas.openxmlformats.org/officeDocument/2006/relationships/slideLayout" Target="/ppt/slideLayouts/slideLayout4.xml" Id="Rff0d07e32012467f" /><Relationship Type="http://schemas.openxmlformats.org/officeDocument/2006/relationships/slideLayout" Target="/ppt/slideLayouts/slideLayout5.xml" Id="Re41877123fc04e5d" /><Relationship Type="http://schemas.openxmlformats.org/officeDocument/2006/relationships/slideLayout" Target="/ppt/slideLayouts/slideLayout6.xml" Id="Rf7ee6c89559d46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d5fade31de4696"/>
    <p:sldLayoutId xmlns:r="http://schemas.openxmlformats.org/officeDocument/2006/relationships" id="2147483650" r:id="R4125de944e364aed"/>
    <p:sldLayoutId xmlns:r="http://schemas.openxmlformats.org/officeDocument/2006/relationships" id="2147483651" r:id="R2a5fdbcfe871449a"/>
    <p:sldLayoutId xmlns:r="http://schemas.openxmlformats.org/officeDocument/2006/relationships" id="2147483652" r:id="Rff0d07e32012467f"/>
    <p:sldLayoutId xmlns:r="http://schemas.openxmlformats.org/officeDocument/2006/relationships" id="2147483653" r:id="Re41877123fc04e5d"/>
    <p:sldLayoutId xmlns:r="http://schemas.openxmlformats.org/officeDocument/2006/relationships" id="2147483654" r:id="Rf7ee6c89559d46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6148aab5b74a13" /><Relationship Type="http://schemas.openxmlformats.org/officeDocument/2006/relationships/notesSlide" Target="/ppt/notesSlides/notesSlide1.xml" Id="R2810febaff3e4f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6396f5b75f4ce9" /><Relationship Type="http://schemas.openxmlformats.org/officeDocument/2006/relationships/notesSlide" Target="/ppt/notesSlides/notesSlide2.xml" Id="R746d8130e5a64e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3e0e25c9064fe5" /><Relationship Type="http://schemas.openxmlformats.org/officeDocument/2006/relationships/chart" Target="/ppt/slides/charts/chart1.xml" Id="R250afe491ab94ba5" /><Relationship Type="http://schemas.openxmlformats.org/officeDocument/2006/relationships/notesSlide" Target="/ppt/notesSlides/notesSlide3.xml" Id="R866f4d7d70cb40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55c2fbb8c54f73" /><Relationship Type="http://schemas.openxmlformats.org/officeDocument/2006/relationships/notesSlide" Target="/ppt/notesSlides/notesSlide4.xml" Id="Ra06e268c32454d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56ad6aabd94cff" /><Relationship Type="http://schemas.openxmlformats.org/officeDocument/2006/relationships/notesSlide" Target="/ppt/notesSlides/notesSlide5.xml" Id="R7bb3c87cec1d432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Comentários</c:v>
          </c:tx>
          <c:spPr>
            <a:solidFill xmlns:a="http://schemas.openxmlformats.org/drawingml/2006/main">
              <a:srgbClr val="188D92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Substituição</c:v>
                </c:pt>
                <c:pt idx="1">
                  <c:v>Produtividade</c:v>
                </c:pt>
                <c:pt idx="2">
                  <c:v>Aprendizado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326</c:v>
                </c:pt>
                <c:pt idx="1">
                  <c:v>352</c:v>
                </c:pt>
                <c:pt idx="2">
                  <c:v>273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7253A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1">
            <a:extLst xmlns:a="http://schemas.openxmlformats.org/drawingml/2006/main">
              <a:ext uri="{FF2B5EF4-FFF2-40B4-BE49-F238E27FC236}">
                <a16:creationId xmlns:a16="http://schemas.microsoft.com/office/drawing/2014/main" id="{0A358B1D-4E5A-4EAE-BA28-635F592A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885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3DBD0"/>
                </a:solidFill>
                <a:latin typeface="DejaVu Sans"/>
                <a:ea typeface="DejaVu Sans"/>
                <a:cs typeface="DejaVu Sans"/>
              </a:rPr>
              <a:t>CCF427  /  PARTE 1  /  PROPOSTA DE PESQUISA</a:t>
            </a:r>
          </a:p>
        </p:txBody>
      </p:sp>
      <p:sp>
        <p:nvSpPr>
          <p:cNvPr id="2" name="count-1">
            <a:extLst xmlns:a="http://schemas.openxmlformats.org/drawingml/2006/main">
              <a:ext uri="{FF2B5EF4-FFF2-40B4-BE49-F238E27FC236}">
                <a16:creationId xmlns:a16="http://schemas.microsoft.com/office/drawing/2014/main" id="{2FE10F25-DF08-4281-AEB2-F8DDB473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14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12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12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12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12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12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12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12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12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12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AB5C7"/>
                </a:solidFill>
                <a:latin typeface="DejaVu Sans"/>
                <a:ea typeface="DejaVu Sans"/>
                <a:cs typeface="DejaVu Sans"/>
              </a:rPr>
              <a:t>01 / 05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CEE886E-891C-442C-8E13-42E30C47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IA na programação:</a:t>
            </a:r>
          </a:p>
        </p:txBody>
      </p:sp>
      <p:sp>
        <p:nvSpPr>
          <p:cNvPr id="4" name="cover-question">
            <a:extLst xmlns:a="http://schemas.openxmlformats.org/drawingml/2006/main">
              <a:ext uri="{FF2B5EF4-FFF2-40B4-BE49-F238E27FC236}">
                <a16:creationId xmlns:a16="http://schemas.microsoft.com/office/drawing/2014/main" id="{C0008B14-E484-46AE-BD21-6017F49A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104965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75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75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75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75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75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75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75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75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75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43DBD0"/>
                </a:solidFill>
                <a:latin typeface="DejaVu Sans"/>
                <a:ea typeface="DejaVu Sans"/>
                <a:cs typeface="DejaVu Sans"/>
              </a:rPr>
              <a:t>o que dizem os comentários do YouTube?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9248584-5C2E-4610-B0C8-892AEF0B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8905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CDD7E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CDD7E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CDD7E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CDD7E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CDD7E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CDD7E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CDD7E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CDD7E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CDD7E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CDD7E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CDD7E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DD7E4"/>
                </a:solidFill>
                <a:latin typeface="DejaVu Sans"/>
                <a:ea typeface="DejaVu Sans"/>
                <a:cs typeface="DejaVu Sans"/>
              </a:rPr>
              <a:t>Coleta e seleção de dados públicos para investigar percepções sobre o uso de IA por programadores.</a:t>
            </a:r>
          </a:p>
        </p:txBody>
      </p:sp>
      <p:sp>
        <p:nvSpPr>
          <p:cNvPr id="6" name="cover-rule">
            <a:extLst xmlns:a="http://schemas.openxmlformats.org/drawingml/2006/main">
              <a:ext uri="{FF2B5EF4-FFF2-40B4-BE49-F238E27FC236}">
                <a16:creationId xmlns:a16="http://schemas.microsoft.com/office/drawing/2014/main" id="{5559AE36-3589-40A8-8F09-ABBAFF55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91200"/>
            <a:ext cx="1065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5167"/>
            </a:solidFill>
            <a:prstDash val="solid"/>
          </a:ln>
        </p:spPr>
      </p:sp>
      <p:sp>
        <p:nvSpPr>
          <p:cNvPr id="7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5A37C85F-D4DD-4873-B615-0C722E72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81700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1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1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1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1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1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1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1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1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1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AAB5C7"/>
                </a:solidFill>
                <a:latin typeface="DejaVu Sans"/>
                <a:ea typeface="DejaVu Sans"/>
                <a:cs typeface="DejaVu Sans"/>
              </a:rPr>
              <a:t>TARIKY  •  UFV – CAMPUS FLORESTAL  •  25 OUT 2026</a:t>
            </a:r>
          </a:p>
        </p:txBody>
      </p:sp>
    </p:spTree>
    <p:extLst>
      <p:ext uri="{BB962C8B-B14F-4D97-AF65-F5344CB8AC3E}">
        <p14:creationId xmlns:p14="http://schemas.microsoft.com/office/powerpoint/2010/main" val="20033557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2">
            <a:extLst xmlns:a="http://schemas.openxmlformats.org/drawingml/2006/main">
              <a:ext uri="{FF2B5EF4-FFF2-40B4-BE49-F238E27FC236}">
                <a16:creationId xmlns:a16="http://schemas.microsoft.com/office/drawing/2014/main" id="{027FFE5E-1D3B-41BE-B815-9188783F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885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rPr>
              <a:t>CCF427  /  PARTE 1  /  COMO COLETEI</a:t>
            </a:r>
          </a:p>
        </p:txBody>
      </p:sp>
      <p:sp>
        <p:nvSpPr>
          <p:cNvPr id="2" name="count-2">
            <a:extLst xmlns:a="http://schemas.openxmlformats.org/drawingml/2006/main">
              <a:ext uri="{FF2B5EF4-FFF2-40B4-BE49-F238E27FC236}">
                <a16:creationId xmlns:a16="http://schemas.microsoft.com/office/drawing/2014/main" id="{76ED120F-9EF2-43CA-9649-3FC5B492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14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rPr>
              <a:t>02 / 05</a:t>
            </a:r>
          </a:p>
        </p:txBody>
      </p:sp>
      <p:sp>
        <p:nvSpPr>
          <p:cNvPr id="3" name="method-title">
            <a:extLst xmlns:a="http://schemas.openxmlformats.org/drawingml/2006/main">
              <a:ext uri="{FF2B5EF4-FFF2-40B4-BE49-F238E27FC236}">
                <a16:creationId xmlns:a16="http://schemas.microsoft.com/office/drawing/2014/main" id="{F6458AD1-9877-4A27-B039-88F736D6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85825"/>
            <a:ext cx="10382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92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92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92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92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92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92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92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92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92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7253A"/>
                </a:solidFill>
                <a:latin typeface="DejaVu Sans"/>
                <a:ea typeface="DejaVu Sans"/>
                <a:cs typeface="DejaVu Sans"/>
              </a:rPr>
              <a:t>Da pergunta aos comentários</a:t>
            </a:r>
          </a:p>
        </p:txBody>
      </p:sp>
      <p:sp>
        <p:nvSpPr>
          <p:cNvPr id="4" name="method-deck">
            <a:extLst xmlns:a="http://schemas.openxmlformats.org/drawingml/2006/main">
              <a:ext uri="{FF2B5EF4-FFF2-40B4-BE49-F238E27FC236}">
                <a16:creationId xmlns:a16="http://schemas.microsoft.com/office/drawing/2014/main" id="{E2B3F720-6E8A-406D-BE60-4F848A30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10334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rPr>
              <a:t>Processo reproduzível em Python, usando a API oficial do YouTube.</a:t>
            </a:r>
          </a:p>
        </p:txBody>
      </p:sp>
      <p:sp>
        <p:nvSpPr>
          <p:cNvPr id="5" name="method-number-0">
            <a:extLst xmlns:a="http://schemas.openxmlformats.org/drawingml/2006/main">
              <a:ext uri="{FF2B5EF4-FFF2-40B4-BE49-F238E27FC236}">
                <a16:creationId xmlns:a16="http://schemas.microsoft.com/office/drawing/2014/main" id="{5DC0F133-FEBB-49BA-B7F3-7CB7F828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9850"/>
            <a:ext cx="904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method-label-0">
            <a:extLst xmlns:a="http://schemas.openxmlformats.org/drawingml/2006/main">
              <a:ext uri="{FF2B5EF4-FFF2-40B4-BE49-F238E27FC236}">
                <a16:creationId xmlns:a16="http://schemas.microsoft.com/office/drawing/2014/main" id="{F17DD5C0-2C66-4AD5-B53A-7888F179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670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rPr>
              <a:t>Buscar vídeos</a:t>
            </a:r>
          </a:p>
        </p:txBody>
      </p:sp>
      <p:sp>
        <p:nvSpPr>
          <p:cNvPr id="7" name="method-detail-0">
            <a:extLst xmlns:a="http://schemas.openxmlformats.org/drawingml/2006/main">
              <a:ext uri="{FF2B5EF4-FFF2-40B4-BE49-F238E27FC236}">
                <a16:creationId xmlns:a16="http://schemas.microsoft.com/office/drawing/2014/main" id="{B3EF47F9-4E49-416B-B844-BEB908FE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657475"/>
            <a:ext cx="533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rPr>
              <a:t>3 consultas: substituição,</a:t>
            </a:r>
          </a:p>
          <a:p xmlns:a="http://schemas.openxmlformats.org/drawingml/2006/main">
            <a: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rPr>
              <a:t>produtividade e aprendizado.</a:t>
            </a:r>
          </a:p>
        </p:txBody>
      </p:sp>
      <p:sp>
        <p:nvSpPr>
          <p:cNvPr id="8" name="method-line-0">
            <a:extLst xmlns:a="http://schemas.openxmlformats.org/drawingml/2006/main">
              <a:ext uri="{FF2B5EF4-FFF2-40B4-BE49-F238E27FC236}">
                <a16:creationId xmlns:a16="http://schemas.microsoft.com/office/drawing/2014/main" id="{51AA4050-50A9-4D77-B6A8-DDF69C35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4250"/>
            <a:ext cx="1058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9" name="method-number-1">
            <a:extLst xmlns:a="http://schemas.openxmlformats.org/drawingml/2006/main">
              <a:ext uri="{FF2B5EF4-FFF2-40B4-BE49-F238E27FC236}">
                <a16:creationId xmlns:a16="http://schemas.microsoft.com/office/drawing/2014/main" id="{3A6397F6-44A8-4BE9-A0A2-351453B9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76650"/>
            <a:ext cx="904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0" name="method-label-1">
            <a:extLst xmlns:a="http://schemas.openxmlformats.org/drawingml/2006/main">
              <a:ext uri="{FF2B5EF4-FFF2-40B4-BE49-F238E27FC236}">
                <a16:creationId xmlns:a16="http://schemas.microsoft.com/office/drawing/2014/main" id="{4006B82F-3D3C-4E89-A074-E0C8109B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7338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rPr>
              <a:t>Selecionar amostra</a:t>
            </a:r>
          </a:p>
        </p:txBody>
      </p:sp>
      <p:sp>
        <p:nvSpPr>
          <p:cNvPr id="11" name="method-detail-1">
            <a:extLst xmlns:a="http://schemas.openxmlformats.org/drawingml/2006/main">
              <a:ext uri="{FF2B5EF4-FFF2-40B4-BE49-F238E27FC236}">
                <a16:creationId xmlns:a16="http://schemas.microsoft.com/office/drawing/2014/main" id="{FBD9D7A7-43FB-4D68-A3E6-9BA98314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724275"/>
            <a:ext cx="533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rPr>
              <a:t>Até 4 vídeos por consulta, publicados</a:t>
            </a:r>
          </a:p>
          <a:p xmlns:a="http://schemas.openxmlformats.org/drawingml/2006/main">
            <a: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rPr>
              <a:t>a partir de 2024.</a:t>
            </a:r>
          </a:p>
        </p:txBody>
      </p:sp>
      <p:sp>
        <p:nvSpPr>
          <p:cNvPr id="12" name="method-line-1">
            <a:extLst xmlns:a="http://schemas.openxmlformats.org/drawingml/2006/main">
              <a:ext uri="{FF2B5EF4-FFF2-40B4-BE49-F238E27FC236}">
                <a16:creationId xmlns:a16="http://schemas.microsoft.com/office/drawing/2014/main" id="{A1718038-CCC0-4352-8882-9CE1C7A5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91050"/>
            <a:ext cx="1058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3" name="method-number-2">
            <a:extLst xmlns:a="http://schemas.openxmlformats.org/drawingml/2006/main">
              <a:ext uri="{FF2B5EF4-FFF2-40B4-BE49-F238E27FC236}">
                <a16:creationId xmlns:a16="http://schemas.microsoft.com/office/drawing/2014/main" id="{F6FA7183-08E1-4A49-84ED-E0AFCA2F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43450"/>
            <a:ext cx="904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88D92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4" name="method-label-2">
            <a:extLst xmlns:a="http://schemas.openxmlformats.org/drawingml/2006/main">
              <a:ext uri="{FF2B5EF4-FFF2-40B4-BE49-F238E27FC236}">
                <a16:creationId xmlns:a16="http://schemas.microsoft.com/office/drawing/2014/main" id="{93DBBF75-E1A0-478F-8DFE-1FA72567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006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rPr>
              <a:t>Extrair comentários</a:t>
            </a:r>
          </a:p>
        </p:txBody>
      </p:sp>
      <p:sp>
        <p:nvSpPr>
          <p:cNvPr id="15" name="method-detail-2">
            <a:extLst xmlns:a="http://schemas.openxmlformats.org/drawingml/2006/main">
              <a:ext uri="{FF2B5EF4-FFF2-40B4-BE49-F238E27FC236}">
                <a16:creationId xmlns:a16="http://schemas.microsoft.com/office/drawing/2014/main" id="{36D85D21-C360-45E2-B357-ECF12729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791075"/>
            <a:ext cx="533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rPr>
              <a:t>Até 100 comentários principais</a:t>
            </a:r>
          </a:p>
          <a:p xmlns:a="http://schemas.openxmlformats.org/drawingml/2006/main">
            <a:pPr algn="l">
              <a:def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4657B"/>
                </a:solidFill>
                <a:latin typeface="DejaVu Sans"/>
                <a:ea typeface="DejaVu Sans"/>
                <a:cs typeface="DejaVu Sans"/>
              </a:rPr>
              <a:t>por vídeo, priorizando os recentes.</a:t>
            </a:r>
          </a:p>
        </p:txBody>
      </p:sp>
      <p:sp>
        <p:nvSpPr>
          <p:cNvPr id="16" name="method-source">
            <a:extLst xmlns:a="http://schemas.openxmlformats.org/drawingml/2006/main">
              <a:ext uri="{FF2B5EF4-FFF2-40B4-BE49-F238E27FC236}">
                <a16:creationId xmlns:a16="http://schemas.microsoft.com/office/drawing/2014/main" id="{5460B9B8-143C-4CB5-9B6A-4D833B8F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1047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4657B"/>
                </a:solidFill>
                <a:latin typeface="DejaVu Sans"/>
                <a:ea typeface="DejaVu Sans"/>
                <a:cs typeface="DejaVu Sans"/>
              </a:rPr>
              <a:t>Dados públicos  •  API YouTube Data v3  •  CSV com metadados dos vídeos e dos comentários</a:t>
            </a:r>
          </a:p>
        </p:txBody>
      </p:sp>
    </p:spTree>
    <p:extLst>
      <p:ext uri="{BB962C8B-B14F-4D97-AF65-F5344CB8AC3E}">
        <p14:creationId xmlns:p14="http://schemas.microsoft.com/office/powerpoint/2010/main" val="17374137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3">
            <a:extLst xmlns:a="http://schemas.openxmlformats.org/drawingml/2006/main">
              <a:ext uri="{FF2B5EF4-FFF2-40B4-BE49-F238E27FC236}">
                <a16:creationId xmlns:a16="http://schemas.microsoft.com/office/drawing/2014/main" id="{EF9E801C-2D72-4360-9EAE-2324BEB8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885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rPr>
              <a:t>CCF427  /  PARTE 1  /  RESULTADOS DA COLETA</a:t>
            </a:r>
          </a:p>
        </p:txBody>
      </p:sp>
      <p:sp>
        <p:nvSpPr>
          <p:cNvPr id="2" name="count-3">
            <a:extLst xmlns:a="http://schemas.openxmlformats.org/drawingml/2006/main">
              <a:ext uri="{FF2B5EF4-FFF2-40B4-BE49-F238E27FC236}">
                <a16:creationId xmlns:a16="http://schemas.microsoft.com/office/drawing/2014/main" id="{0D2B2EFB-CA54-4BC6-98CF-2B504BF0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14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rPr>
              <a:t>03 / 05</a:t>
            </a:r>
          </a:p>
        </p:txBody>
      </p:sp>
      <p:sp>
        <p:nvSpPr>
          <p:cNvPr id="3" name="results-title">
            <a:extLst xmlns:a="http://schemas.openxmlformats.org/drawingml/2006/main">
              <a:ext uri="{FF2B5EF4-FFF2-40B4-BE49-F238E27FC236}">
                <a16:creationId xmlns:a16="http://schemas.microsoft.com/office/drawing/2014/main" id="{70FA2C0B-6837-4F56-9C4E-C1434B8A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85825"/>
            <a:ext cx="10420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92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92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92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92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92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92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92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92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92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7253A"/>
                </a:solidFill>
                <a:latin typeface="DejaVu Sans"/>
                <a:ea typeface="DejaVu Sans"/>
                <a:cs typeface="DejaVu Sans"/>
              </a:rPr>
              <a:t>Uma base real para começar</a:t>
            </a:r>
          </a:p>
        </p:txBody>
      </p:sp>
      <p:sp>
        <p:nvSpPr>
          <p:cNvPr id="4" name="results-big-number">
            <a:extLst xmlns:a="http://schemas.openxmlformats.org/drawingml/2006/main">
              <a:ext uri="{FF2B5EF4-FFF2-40B4-BE49-F238E27FC236}">
                <a16:creationId xmlns:a16="http://schemas.microsoft.com/office/drawing/2014/main" id="{E89E4777-BBF9-4380-A104-0DDC708A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76425"/>
            <a:ext cx="404812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0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0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0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0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0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0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0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0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0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0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0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pPr>
            <a:r>
              <a:rPr sz="9000" b="1">
                <a:solidFill>
                  <a:srgbClr val="17253A"/>
                </a:solidFill>
                <a:latin typeface="DejaVu Sans"/>
                <a:ea typeface="DejaVu Sans"/>
                <a:cs typeface="DejaVu Sans"/>
              </a:rPr>
              <a:t>951</a:t>
            </a:r>
          </a:p>
        </p:txBody>
      </p:sp>
      <p:sp>
        <p:nvSpPr>
          <p:cNvPr id="5" name="results-big-label">
            <a:extLst xmlns:a="http://schemas.openxmlformats.org/drawingml/2006/main">
              <a:ext uri="{FF2B5EF4-FFF2-40B4-BE49-F238E27FC236}">
                <a16:creationId xmlns:a16="http://schemas.microsoft.com/office/drawing/2014/main" id="{7139D6CC-8526-4997-971F-22D6C6B4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4657B"/>
                </a:solidFill>
                <a:latin typeface="DejaVu Sans"/>
                <a:ea typeface="DejaVu Sans"/>
                <a:cs typeface="DejaVu Sans"/>
              </a:rPr>
              <a:t>comentários principais</a:t>
            </a:r>
          </a:p>
        </p:txBody>
      </p:sp>
      <p:sp>
        <p:nvSpPr>
          <p:cNvPr id="6" name="results-side-rule">
            <a:extLst xmlns:a="http://schemas.openxmlformats.org/drawingml/2006/main">
              <a:ext uri="{FF2B5EF4-FFF2-40B4-BE49-F238E27FC236}">
                <a16:creationId xmlns:a16="http://schemas.microsoft.com/office/drawing/2014/main" id="{5C68CD42-167B-4734-BAB3-F171B67C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results-video-count">
            <a:extLst xmlns:a="http://schemas.openxmlformats.org/drawingml/2006/main">
              <a:ext uri="{FF2B5EF4-FFF2-40B4-BE49-F238E27FC236}">
                <a16:creationId xmlns:a16="http://schemas.microsoft.com/office/drawing/2014/main" id="{6B939A3F-2FB1-4C45-95B2-CB8503F8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81525"/>
            <a:ext cx="147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6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6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6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6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6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6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6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6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6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188D92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8" name="results-video-label">
            <a:extLst xmlns:a="http://schemas.openxmlformats.org/drawingml/2006/main">
              <a:ext uri="{FF2B5EF4-FFF2-40B4-BE49-F238E27FC236}">
                <a16:creationId xmlns:a16="http://schemas.microsoft.com/office/drawing/2014/main" id="{B25A72F5-9110-41AB-AB40-D5E380DE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714875"/>
            <a:ext cx="26955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rPr>
              <a:t>vídeos selecionados</a:t>
            </a:r>
          </a:p>
          <a:p xmlns:a="http://schemas.openxmlformats.org/drawingml/2006/main">
            <a: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rPr>
              <a:t>na busca inicial</a:t>
            </a:r>
          </a:p>
        </p:txBody>
      </p:sp>
      <p:sp>
        <p:nvSpPr>
          <p:cNvPr id="9" name="results-chart-label">
            <a:extLst xmlns:a="http://schemas.openxmlformats.org/drawingml/2006/main">
              <a:ext uri="{FF2B5EF4-FFF2-40B4-BE49-F238E27FC236}">
                <a16:creationId xmlns:a16="http://schemas.microsoft.com/office/drawing/2014/main" id="{BB30BD4B-A168-4C94-A51C-D9DE7EB5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62150"/>
            <a:ext cx="576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88D92"/>
                </a:solidFill>
                <a:latin typeface="DejaVu Sans"/>
                <a:ea typeface="DejaVu Sans"/>
                <a:cs typeface="DejaVu Sans"/>
              </a:rPr>
              <a:t>COMENTÁRIOS POR GRUPO DE BUSCA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0D355F0A-7ED9-4075-894F-415E49BFA037}"/>
              </a:ext>
            </a:extLst>
          </p:cNvPr>
          <p:cNvGraphicFramePr/>
          <p:nvPr/>
        </p:nvGraphicFramePr>
        <p:xfrm>
          <a:off xmlns:a="http://schemas.openxmlformats.org/drawingml/2006/main" x="5286375" y="2419350"/>
          <a:ext xmlns:a="http://schemas.openxmlformats.org/drawingml/2006/main" cx="6143625" cy="2800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0afe491ab94ba5"/>
          </a:graphicData>
        </a:graphic>
      </p:graphicFrame>
      <p:sp>
        <p:nvSpPr>
          <p:cNvPr id="11" name="bar-category-0">
            <a:extLst xmlns:a="http://schemas.openxmlformats.org/drawingml/2006/main">
              <a:ext uri="{FF2B5EF4-FFF2-40B4-BE49-F238E27FC236}">
                <a16:creationId xmlns:a16="http://schemas.microsoft.com/office/drawing/2014/main" id="{12923C1D-2351-46F5-833C-0B0865C4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28925"/>
            <a:ext cx="2066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Aprendizado</a:t>
            </a:r>
          </a:p>
        </p:txBody>
      </p:sp>
      <p:sp>
        <p:nvSpPr>
          <p:cNvPr id="12" name="bar-category-1">
            <a:extLst xmlns:a="http://schemas.openxmlformats.org/drawingml/2006/main">
              <a:ext uri="{FF2B5EF4-FFF2-40B4-BE49-F238E27FC236}">
                <a16:creationId xmlns:a16="http://schemas.microsoft.com/office/drawing/2014/main" id="{799D1ACF-0E4D-4AB9-BF7B-FDDE8ED7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581400"/>
            <a:ext cx="2066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Produtividade</a:t>
            </a:r>
          </a:p>
        </p:txBody>
      </p:sp>
      <p:sp>
        <p:nvSpPr>
          <p:cNvPr id="13" name="bar-category-2">
            <a:extLst xmlns:a="http://schemas.openxmlformats.org/drawingml/2006/main">
              <a:ext uri="{FF2B5EF4-FFF2-40B4-BE49-F238E27FC236}">
                <a16:creationId xmlns:a16="http://schemas.microsoft.com/office/drawing/2014/main" id="{B0D07AD5-D3CF-475C-9D20-C0D991C0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333875"/>
            <a:ext cx="2066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Substituição</a:t>
            </a:r>
          </a:p>
        </p:txBody>
      </p:sp>
      <p:sp>
        <p:nvSpPr>
          <p:cNvPr id="14" name="results-bottom-rule">
            <a:extLst xmlns:a="http://schemas.openxmlformats.org/drawingml/2006/main">
              <a:ext uri="{FF2B5EF4-FFF2-40B4-BE49-F238E27FC236}">
                <a16:creationId xmlns:a16="http://schemas.microsoft.com/office/drawing/2014/main" id="{E882E26E-3B89-4C12-9492-B2F30392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results-caveat">
            <a:extLst xmlns:a="http://schemas.openxmlformats.org/drawingml/2006/main">
              <a:ext uri="{FF2B5EF4-FFF2-40B4-BE49-F238E27FC236}">
                <a16:creationId xmlns:a16="http://schemas.microsoft.com/office/drawing/2014/main" id="{4B226F88-AD97-41F2-9C0F-CA0EFB80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5790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4657B"/>
                </a:solidFill>
                <a:latin typeface="DejaVu Sans"/>
                <a:ea typeface="DejaVu Sans"/>
                <a:cs typeface="DejaVu Sans"/>
              </a:rPr>
              <a:t>Os grupos indicam a busca que encontrou o vídeo; ainda não são sentimentos classificados.</a:t>
            </a:r>
          </a:p>
        </p:txBody>
      </p:sp>
    </p:spTree>
    <p:extLst>
      <p:ext uri="{BB962C8B-B14F-4D97-AF65-F5344CB8AC3E}">
        <p14:creationId xmlns:p14="http://schemas.microsoft.com/office/powerpoint/2010/main" val="10569603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524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4">
            <a:extLst xmlns:a="http://schemas.openxmlformats.org/drawingml/2006/main">
              <a:ext uri="{FF2B5EF4-FFF2-40B4-BE49-F238E27FC236}">
                <a16:creationId xmlns:a16="http://schemas.microsoft.com/office/drawing/2014/main" id="{11C928F7-C00E-4FED-B79C-089F8D82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885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3DBD0"/>
                </a:solidFill>
                <a:latin typeface="DejaVu Sans"/>
                <a:ea typeface="DejaVu Sans"/>
                <a:cs typeface="DejaVu Sans"/>
              </a:rPr>
              <a:t>CCF427  /  PARTE 1  /  CONTROLE DE QUALIDADE</a:t>
            </a:r>
          </a:p>
        </p:txBody>
      </p:sp>
      <p:sp>
        <p:nvSpPr>
          <p:cNvPr id="2" name="count-4">
            <a:extLst xmlns:a="http://schemas.openxmlformats.org/drawingml/2006/main">
              <a:ext uri="{FF2B5EF4-FFF2-40B4-BE49-F238E27FC236}">
                <a16:creationId xmlns:a16="http://schemas.microsoft.com/office/drawing/2014/main" id="{36B25177-478D-412B-9FA4-887798D8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14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12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12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12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12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12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12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12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12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12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AB5C7"/>
                </a:solidFill>
                <a:latin typeface="DejaVu Sans"/>
                <a:ea typeface="DejaVu Sans"/>
                <a:cs typeface="DejaVu Sans"/>
              </a:rPr>
              <a:t>04 / 05</a:t>
            </a:r>
          </a:p>
        </p:txBody>
      </p:sp>
      <p:sp>
        <p:nvSpPr>
          <p:cNvPr id="3" name="focus-title">
            <a:extLst xmlns:a="http://schemas.openxmlformats.org/drawingml/2006/main">
              <a:ext uri="{FF2B5EF4-FFF2-40B4-BE49-F238E27FC236}">
                <a16:creationId xmlns:a16="http://schemas.microsoft.com/office/drawing/2014/main" id="{7AC598B0-2E82-40DA-B0E7-ADB1D69E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Nem todo vídeo de IA fala de programação.</a:t>
            </a:r>
          </a:p>
        </p:txBody>
      </p:sp>
      <p:sp>
        <p:nvSpPr>
          <p:cNvPr id="4" name="focus-subtitle">
            <a:extLst xmlns:a="http://schemas.openxmlformats.org/drawingml/2006/main">
              <a:ext uri="{FF2B5EF4-FFF2-40B4-BE49-F238E27FC236}">
                <a16:creationId xmlns:a16="http://schemas.microsoft.com/office/drawing/2014/main" id="{8BAF4A80-D42C-42A5-BE78-F27FD84D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10458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C5D2E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C5D2E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C5D2E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C5D2E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C5D2E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C5D2E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C5D2E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C5D2E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C5D2E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C5D2E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C5D2E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C5D2E2"/>
                </a:solidFill>
                <a:latin typeface="DejaVu Sans"/>
                <a:ea typeface="DejaVu Sans"/>
                <a:cs typeface="DejaVu Sans"/>
              </a:rPr>
              <a:t>Revisei os títulos e criei um recorte específico, mantendo o CSV bruto intacto.</a:t>
            </a:r>
          </a:p>
        </p:txBody>
      </p:sp>
      <p:sp>
        <p:nvSpPr>
          <p:cNvPr id="5" name="focus-raw-label">
            <a:extLst xmlns:a="http://schemas.openxmlformats.org/drawingml/2006/main">
              <a:ext uri="{FF2B5EF4-FFF2-40B4-BE49-F238E27FC236}">
                <a16:creationId xmlns:a16="http://schemas.microsoft.com/office/drawing/2014/main" id="{868B8CE4-19DB-453B-A93B-DFCC1D88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AAB5C7"/>
                </a:solidFill>
                <a:latin typeface="DejaVu Sans"/>
                <a:ea typeface="DejaVu Sans"/>
                <a:cs typeface="DejaVu Sans"/>
              </a:rPr>
              <a:t>BASE COLETADA</a:t>
            </a:r>
          </a:p>
        </p:txBody>
      </p:sp>
      <p:sp>
        <p:nvSpPr>
          <p:cNvPr id="6" name="focus-raw-number">
            <a:extLst xmlns:a="http://schemas.openxmlformats.org/drawingml/2006/main">
              <a:ext uri="{FF2B5EF4-FFF2-40B4-BE49-F238E27FC236}">
                <a16:creationId xmlns:a16="http://schemas.microsoft.com/office/drawing/2014/main" id="{0A864242-236C-48D7-B480-9517C577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46005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951</a:t>
            </a:r>
          </a:p>
        </p:txBody>
      </p:sp>
      <p:sp>
        <p:nvSpPr>
          <p:cNvPr id="7" name="focus-raw-videos">
            <a:extLst xmlns:a="http://schemas.openxmlformats.org/drawingml/2006/main">
              <a:ext uri="{FF2B5EF4-FFF2-40B4-BE49-F238E27FC236}">
                <a16:creationId xmlns:a16="http://schemas.microsoft.com/office/drawing/2014/main" id="{1E2FE86E-0D85-437E-8377-6ACBAB5A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086350"/>
            <a:ext cx="4286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AAB5C7"/>
                </a:solidFill>
                <a:latin typeface="DejaVu Sans"/>
                <a:ea typeface="DejaVu Sans"/>
                <a:cs typeface="DejaVu Sans"/>
              </a:rPr>
              <a:t>comentários em 12 vídeos</a:t>
            </a:r>
          </a:p>
        </p:txBody>
      </p:sp>
      <p:sp>
        <p:nvSpPr>
          <p:cNvPr id="8" name="focus-selected-label">
            <a:extLst xmlns:a="http://schemas.openxmlformats.org/drawingml/2006/main">
              <a:ext uri="{FF2B5EF4-FFF2-40B4-BE49-F238E27FC236}">
                <a16:creationId xmlns:a16="http://schemas.microsoft.com/office/drawing/2014/main" id="{0D7E5E07-8A0E-432B-BF59-4AFADC93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0040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3DBD0"/>
                </a:solidFill>
                <a:latin typeface="DejaVu Sans"/>
                <a:ea typeface="DejaVu Sans"/>
                <a:cs typeface="DejaVu Sans"/>
              </a:rPr>
              <a:t>RECORTE TEMÁTICO</a:t>
            </a:r>
          </a:p>
        </p:txBody>
      </p:sp>
      <p:sp>
        <p:nvSpPr>
          <p:cNvPr id="9" name="focus-selected-number">
            <a:extLst xmlns:a="http://schemas.openxmlformats.org/drawingml/2006/main">
              <a:ext uri="{FF2B5EF4-FFF2-40B4-BE49-F238E27FC236}">
                <a16:creationId xmlns:a16="http://schemas.microsoft.com/office/drawing/2014/main" id="{14538A67-6C36-47ED-8BD7-9BDD4698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19500"/>
            <a:ext cx="48577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875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7875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7875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7875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7875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7875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7875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7875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7875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7875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7875" b="1">
                <a:solidFill>
                  <a:srgbClr val="43DBD0"/>
                </a:solidFill>
                <a:latin typeface="DejaVu Sans"/>
                <a:ea typeface="DejaVu Sans"/>
                <a:cs typeface="DejaVu Sans"/>
              </a:defRPr>
            </a:pPr>
            <a:r>
              <a:rPr sz="7875" b="1">
                <a:solidFill>
                  <a:srgbClr val="43DBD0"/>
                </a:solidFill>
                <a:latin typeface="DejaVu Sans"/>
                <a:ea typeface="DejaVu Sans"/>
                <a:cs typeface="DejaVu Sans"/>
              </a:rPr>
              <a:t>426</a:t>
            </a:r>
          </a:p>
        </p:txBody>
      </p:sp>
      <p:sp>
        <p:nvSpPr>
          <p:cNvPr id="10" name="focus-selected-videos">
            <a:extLst xmlns:a="http://schemas.openxmlformats.org/drawingml/2006/main">
              <a:ext uri="{FF2B5EF4-FFF2-40B4-BE49-F238E27FC236}">
                <a16:creationId xmlns:a16="http://schemas.microsoft.com/office/drawing/2014/main" id="{F0E4C364-843D-461D-9E93-3D1336C4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086350"/>
            <a:ext cx="4495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AAB5C7"/>
                </a:solidFill>
                <a:latin typeface="DejaVu Sans"/>
                <a:ea typeface="DejaVu Sans"/>
                <a:cs typeface="DejaVu Sans"/>
              </a:rPr>
              <a:t>comentários em 5 vídeos</a:t>
            </a:r>
          </a:p>
        </p:txBody>
      </p:sp>
      <p:sp>
        <p:nvSpPr>
          <p:cNvPr id="11" name="focus-bottom-rule">
            <a:extLst xmlns:a="http://schemas.openxmlformats.org/drawingml/2006/main">
              <a:ext uri="{FF2B5EF4-FFF2-40B4-BE49-F238E27FC236}">
                <a16:creationId xmlns:a16="http://schemas.microsoft.com/office/drawing/2014/main" id="{6D486C29-8C4E-4FF9-A63B-87A54E9C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9436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6077"/>
            </a:solidFill>
            <a:prstDash val="solid"/>
          </a:ln>
        </p:spPr>
      </p:sp>
      <p:sp>
        <p:nvSpPr>
          <p:cNvPr id="12" name="focus-note">
            <a:extLst xmlns:a="http://schemas.openxmlformats.org/drawingml/2006/main">
              <a:ext uri="{FF2B5EF4-FFF2-40B4-BE49-F238E27FC236}">
                <a16:creationId xmlns:a16="http://schemas.microsoft.com/office/drawing/2014/main" id="{2715E08A-3750-4C50-BF41-1449FAC0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0769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AB5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AB5C7"/>
                </a:solidFill>
                <a:latin typeface="DejaVu Sans"/>
                <a:ea typeface="DejaVu Sans"/>
                <a:cs typeface="DejaVu Sans"/>
              </a:rPr>
              <a:t>Triagem posterior por pertinência do título. 7 vídeos genéricos ficaram fora do recorte.</a:t>
            </a:r>
          </a:p>
        </p:txBody>
      </p:sp>
    </p:spTree>
    <p:extLst>
      <p:ext uri="{BB962C8B-B14F-4D97-AF65-F5344CB8AC3E}">
        <p14:creationId xmlns:p14="http://schemas.microsoft.com/office/powerpoint/2010/main" val="16578750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5">
            <a:extLst xmlns:a="http://schemas.openxmlformats.org/drawingml/2006/main">
              <a:ext uri="{FF2B5EF4-FFF2-40B4-BE49-F238E27FC236}">
                <a16:creationId xmlns:a16="http://schemas.microsoft.com/office/drawing/2014/main" id="{BD992D8A-E7B3-43E4-92F3-C15CDB4C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885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88D92"/>
                </a:solidFill>
                <a:latin typeface="DejaVu Sans"/>
                <a:ea typeface="DejaVu Sans"/>
                <a:cs typeface="DejaVu Sans"/>
              </a:rPr>
              <a:t>CCF427  /  PARTE 1  /  PRÓXIMOS PASSOS</a:t>
            </a:r>
          </a:p>
        </p:txBody>
      </p:sp>
      <p:sp>
        <p:nvSpPr>
          <p:cNvPr id="2" name="count-5">
            <a:extLst xmlns:a="http://schemas.openxmlformats.org/drawingml/2006/main">
              <a:ext uri="{FF2B5EF4-FFF2-40B4-BE49-F238E27FC236}">
                <a16:creationId xmlns:a16="http://schemas.microsoft.com/office/drawing/2014/main" id="{5D3BF9C9-3247-4EA2-A24C-531B08CB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14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4657B"/>
                </a:solidFill>
                <a:latin typeface="DejaVu Sans"/>
                <a:ea typeface="DejaVu Sans"/>
                <a:cs typeface="DejaVu Sans"/>
              </a:rPr>
              <a:t>05 / 05</a:t>
            </a:r>
          </a:p>
        </p:txBody>
      </p:sp>
      <p:sp>
        <p:nvSpPr>
          <p:cNvPr id="3" name="next-title">
            <a:extLst xmlns:a="http://schemas.openxmlformats.org/drawingml/2006/main">
              <a:ext uri="{FF2B5EF4-FFF2-40B4-BE49-F238E27FC236}">
                <a16:creationId xmlns:a16="http://schemas.microsoft.com/office/drawing/2014/main" id="{A3E811CC-1C02-452B-B8EF-5752C287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00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00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00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00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00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00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00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00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00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253A"/>
                </a:solidFill>
                <a:latin typeface="DejaVu Sans"/>
                <a:ea typeface="DejaVu Sans"/>
                <a:cs typeface="DejaVu Sans"/>
              </a:rPr>
              <a:t>O que será analisado no artigo?</a:t>
            </a:r>
          </a:p>
        </p:txBody>
      </p:sp>
      <p:sp>
        <p:nvSpPr>
          <p:cNvPr id="4" name="next-deck">
            <a:extLst xmlns:a="http://schemas.openxmlformats.org/drawingml/2006/main">
              <a:ext uri="{FF2B5EF4-FFF2-40B4-BE49-F238E27FC236}">
                <a16:creationId xmlns:a16="http://schemas.microsoft.com/office/drawing/2014/main" id="{7B63D64A-0A88-4DFF-9541-8BF44576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8592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4657B"/>
                </a:solidFill>
                <a:latin typeface="DejaVu Sans"/>
                <a:ea typeface="DejaVu Sans"/>
                <a:cs typeface="DejaVu Sans"/>
              </a:rPr>
              <a:t>A Parte 1 registra o tema, o método de coleta e os dados disponíveis.</a:t>
            </a:r>
          </a:p>
        </p:txBody>
      </p:sp>
      <p:sp>
        <p:nvSpPr>
          <p:cNvPr id="5" name="next-number-0">
            <a:extLst xmlns:a="http://schemas.openxmlformats.org/drawingml/2006/main">
              <a:ext uri="{FF2B5EF4-FFF2-40B4-BE49-F238E27FC236}">
                <a16:creationId xmlns:a16="http://schemas.microsoft.com/office/drawing/2014/main" id="{7BCBC659-70DF-4B89-900E-C2C74364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477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next-name-0">
            <a:extLst xmlns:a="http://schemas.openxmlformats.org/drawingml/2006/main">
              <a:ext uri="{FF2B5EF4-FFF2-40B4-BE49-F238E27FC236}">
                <a16:creationId xmlns:a16="http://schemas.microsoft.com/office/drawing/2014/main" id="{191C7E15-9B95-4E94-A10F-30F85C9E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43200"/>
            <a:ext cx="3962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rPr>
              <a:t>Descrever os dados</a:t>
            </a:r>
          </a:p>
        </p:txBody>
      </p:sp>
      <p:sp>
        <p:nvSpPr>
          <p:cNvPr id="7" name="next-desc-0">
            <a:extLst xmlns:a="http://schemas.openxmlformats.org/drawingml/2006/main">
              <a:ext uri="{FF2B5EF4-FFF2-40B4-BE49-F238E27FC236}">
                <a16:creationId xmlns:a16="http://schemas.microsoft.com/office/drawing/2014/main" id="{2A8C92BB-BD07-4C88-83EB-DC90A7C6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733675"/>
            <a:ext cx="537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rPr>
              <a:t>Volume por vídeo, datas, curtidas e características dos comentários.</a:t>
            </a:r>
          </a:p>
        </p:txBody>
      </p:sp>
      <p:sp>
        <p:nvSpPr>
          <p:cNvPr id="8" name="next-rule-0">
            <a:extLst xmlns:a="http://schemas.openxmlformats.org/drawingml/2006/main">
              <a:ext uri="{FF2B5EF4-FFF2-40B4-BE49-F238E27FC236}">
                <a16:creationId xmlns:a16="http://schemas.microsoft.com/office/drawing/2014/main" id="{A3F85324-B398-487B-80FB-A77BFA68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1061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9" name="next-number-1">
            <a:extLst xmlns:a="http://schemas.openxmlformats.org/drawingml/2006/main">
              <a:ext uri="{FF2B5EF4-FFF2-40B4-BE49-F238E27FC236}">
                <a16:creationId xmlns:a16="http://schemas.microsoft.com/office/drawing/2014/main" id="{3174FDE1-6988-4AE6-9830-2FF037B0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8477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0" name="next-name-1">
            <a:extLst xmlns:a="http://schemas.openxmlformats.org/drawingml/2006/main">
              <a:ext uri="{FF2B5EF4-FFF2-40B4-BE49-F238E27FC236}">
                <a16:creationId xmlns:a16="http://schemas.microsoft.com/office/drawing/2014/main" id="{27F87D4C-C023-4842-9985-80FFCABF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24275"/>
            <a:ext cx="3962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rPr>
              <a:t>Examinar as opiniões</a:t>
            </a:r>
          </a:p>
        </p:txBody>
      </p:sp>
      <p:sp>
        <p:nvSpPr>
          <p:cNvPr id="11" name="next-desc-1">
            <a:extLst xmlns:a="http://schemas.openxmlformats.org/drawingml/2006/main">
              <a:ext uri="{FF2B5EF4-FFF2-40B4-BE49-F238E27FC236}">
                <a16:creationId xmlns:a16="http://schemas.microsoft.com/office/drawing/2014/main" id="{1D6EB289-812D-4F9F-99E6-3BE9A714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714750"/>
            <a:ext cx="537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rPr>
              <a:t>Identificar posições favoráveis, críticas e neutras com validação humana.</a:t>
            </a:r>
          </a:p>
        </p:txBody>
      </p:sp>
      <p:sp>
        <p:nvSpPr>
          <p:cNvPr id="12" name="next-rule-1">
            <a:extLst xmlns:a="http://schemas.openxmlformats.org/drawingml/2006/main">
              <a:ext uri="{FF2B5EF4-FFF2-40B4-BE49-F238E27FC236}">
                <a16:creationId xmlns:a16="http://schemas.microsoft.com/office/drawing/2014/main" id="{76C86B19-7123-4F41-8D7B-A7069AD8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1061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3" name="next-number-2">
            <a:extLst xmlns:a="http://schemas.openxmlformats.org/drawingml/2006/main">
              <a:ext uri="{FF2B5EF4-FFF2-40B4-BE49-F238E27FC236}">
                <a16:creationId xmlns:a16="http://schemas.microsoft.com/office/drawing/2014/main" id="{6A25E84D-2490-424E-8738-FBC9A27B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76775"/>
            <a:ext cx="8477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188D92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4" name="next-name-2">
            <a:extLst xmlns:a="http://schemas.openxmlformats.org/drawingml/2006/main">
              <a:ext uri="{FF2B5EF4-FFF2-40B4-BE49-F238E27FC236}">
                <a16:creationId xmlns:a16="http://schemas.microsoft.com/office/drawing/2014/main" id="{8C9531DE-A3EB-4AB1-926D-986A1A3B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05350"/>
            <a:ext cx="3962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253A"/>
                </a:solidFill>
                <a:latin typeface="DejaVu Sans"/>
                <a:ea typeface="DejaVu Sans"/>
                <a:cs typeface="DejaVu Sans"/>
              </a:rPr>
              <a:t>Discutir limitações</a:t>
            </a:r>
          </a:p>
        </p:txBody>
      </p:sp>
      <p:sp>
        <p:nvSpPr>
          <p:cNvPr id="15" name="next-desc-2">
            <a:extLst xmlns:a="http://schemas.openxmlformats.org/drawingml/2006/main">
              <a:ext uri="{FF2B5EF4-FFF2-40B4-BE49-F238E27FC236}">
                <a16:creationId xmlns:a16="http://schemas.microsoft.com/office/drawing/2014/main" id="{1C8F89F1-E90C-4A6D-88A7-CB13E142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695825"/>
            <a:ext cx="537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4657B"/>
                </a:solidFill>
                <a:latin typeface="DejaVu Sans"/>
                <a:ea typeface="DejaVu Sans"/>
                <a:cs typeface="DejaVu Sans"/>
              </a:rPr>
              <a:t>Viés das buscas, seleção de vídeos e contexto dos comentários.</a:t>
            </a:r>
          </a:p>
        </p:txBody>
      </p:sp>
      <p:sp>
        <p:nvSpPr>
          <p:cNvPr id="16" name="next-takeaway">
            <a:extLst xmlns:a="http://schemas.openxmlformats.org/drawingml/2006/main">
              <a:ext uri="{FF2B5EF4-FFF2-40B4-BE49-F238E27FC236}">
                <a16:creationId xmlns:a16="http://schemas.microsoft.com/office/drawing/2014/main" id="{3685512C-86D0-41B5-9296-D636AEC1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02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8D9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8D92"/>
                </a:solidFill>
                <a:latin typeface="DejaVu Sans"/>
                <a:ea typeface="DejaVu Sans"/>
                <a:cs typeface="DejaVu Sans"/>
              </a:rPr>
              <a:t>Objetivo: compreender padrões de opinião — sem generalizar para todos os programadores.</a:t>
            </a:r>
          </a:p>
        </p:txBody>
      </p:sp>
    </p:spTree>
    <p:extLst>
      <p:ext uri="{BB962C8B-B14F-4D97-AF65-F5344CB8AC3E}">
        <p14:creationId xmlns:p14="http://schemas.microsoft.com/office/powerpoint/2010/main" val="613749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2026-10-25T16:06:50.7810000Z</dcterms:created>
  <dcterms:modified xsi:type="dcterms:W3CDTF">2026-10-25T16:06:50.7810000Z</dcterms:modified>
</coreProperties>
</file>